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7B79-5787-E386-DAC2-9B9D9BAB2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CF498-7DD1-D01C-2A8B-26FC7CDD6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2BDA2-D0D2-24B4-A557-2449513F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D5E2-D9CD-DE90-0421-B9D64F5C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F054-C492-EBFE-B985-19A6ED3F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91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E57F-0F54-F8BF-3BD0-DBF4E4E6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02D4-0C8C-674E-6369-17E46054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1CF00-84D7-D5AF-6981-8FB6898D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7ADB-5B6E-D93B-3A4E-5F27F4F3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664A4-A97A-466D-B812-096BD97B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707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DB9-6869-BD54-FCD7-2C16010B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10A5D-A33A-7DFC-4D3B-BC3E3C94D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F2D0-FC94-9042-0B40-4B021F73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85F51-3ED8-7F19-F6B8-C8C62743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AC265-6C0A-FE2D-9EF1-8E323411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48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F1FC-FBC2-FABB-5C1E-E4D482EA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FFCB-A869-B923-4A15-E90EF1BEB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59C66-3DBD-DD11-83CE-70E3C1BF5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63868-E5BD-299C-286B-B964670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2CCBD-D2A8-E58E-AF04-BECDAD76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04D7A-584F-0178-FD34-C4D996DD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5841-BAEE-E5B7-D0D6-F269D70A0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1D73D-5330-14CF-20F1-A1BF52EC3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A0065-D70D-EE66-76A8-2965A970E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58BB4-7119-ED4A-1866-73D74266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9FC66-08A7-F381-093B-94181AB30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089F6-6F49-49DB-BFD6-CEBAD815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944E7-C78C-BE2F-9D30-ADB22880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28CC0-742F-5A73-1FE4-A5CF682B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36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7BBF-6F3E-94B7-CB2F-246FEA31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EDBA0-EBD4-87AD-D4A9-57B9AE9E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09C6F-4CDD-A5E8-695E-58F394DF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F45DE-9E4D-20A1-2025-BF47DDDE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383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0BB4C-20BD-697F-B846-F423B85E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FE2F3-D711-E860-F306-11D1DF40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EFB03-B86A-D51E-24A2-F8AFE745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84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18BE-0614-8A03-86B4-B207C817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6B307-D3D3-D086-7B25-374183DA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28784-08EC-0132-A7B9-97DA89BA6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BF53-74CB-2138-4352-D607A270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26436-1D28-4F07-4323-7582077F6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1E5A2-8482-45FD-4E60-1380B9A0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80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858A-CEA0-622E-8475-19866F65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B4583-03CD-30F0-D174-14663785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0C5E3-4C43-8A72-D03E-C5B73386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DED87-4DF0-141D-BEBE-A1CC3390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FB8A7-787F-99FD-CE24-99388129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0A6DB-64A0-044A-5D63-748FF245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62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04B5-B652-2F18-1DBB-C108A04D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A8745-1666-967E-AD05-97224D0E9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2F2D0-F0B9-B2A2-7B9A-DD559682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823F4-2365-5915-6016-CF16AD78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0FA9-6936-A468-E97C-D9BD04F3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48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87F10-DA4A-15BE-E346-42D04E10A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CC521-B7B5-3DEF-3C39-472FBC463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77C6B-21E5-A5F2-E51B-F7BE2A22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96F5A-DFE8-2353-7A8D-D2011BF8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EE811-3AF1-B5E5-5D30-F1793A74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73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5AC20-7453-9DA8-86F4-EFD2D19D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A5CF-665A-B03C-53FB-705C999BC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BA49-4561-6923-9DE9-381C8CDA2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BA6A7-434A-4DBB-AF10-DCE0100FA27D}" type="datetimeFigureOut">
              <a:rPr lang="en-GB" smtClean="0"/>
              <a:t>02/08/2024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651C1-D160-315E-BD91-1C88C0A4A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DA22B-0108-C4F5-1596-003A6E822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CA2E8-14A4-4FD4-97A0-B29A9CB30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0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C1B8-BC30-BEC6-B69A-CB5DBD9C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Basic Premise and Hypotheses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B2BE2-D919-6E9D-CC48-C6AB1694C19B}"/>
              </a:ext>
            </a:extLst>
          </p:cNvPr>
          <p:cNvSpPr txBox="1"/>
          <p:nvPr/>
        </p:nvSpPr>
        <p:spPr>
          <a:xfrm>
            <a:off x="723014" y="1669312"/>
            <a:ext cx="10630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GB" dirty="0"/>
              <a:t>The </a:t>
            </a:r>
            <a:r>
              <a:rPr lang="en-GB" i="1" dirty="0"/>
              <a:t>type </a:t>
            </a:r>
            <a:r>
              <a:rPr lang="en-GB" dirty="0"/>
              <a:t>of photosynthesis that will dominate on a planet will depend on </a:t>
            </a:r>
            <a:r>
              <a:rPr lang="en-GB" b="1" dirty="0"/>
              <a:t>the incident flux</a:t>
            </a:r>
            <a:r>
              <a:rPr lang="en-GB" dirty="0"/>
              <a:t> and the </a:t>
            </a:r>
            <a:r>
              <a:rPr lang="en-GB" b="1" dirty="0"/>
              <a:t>availability of oxidizable substrate</a:t>
            </a:r>
            <a:r>
              <a:rPr lang="en-GB" dirty="0"/>
              <a:t>.</a:t>
            </a:r>
          </a:p>
          <a:p>
            <a:pPr marL="342900" indent="-342900">
              <a:buAutoNum type="arabicParenBoth"/>
            </a:pPr>
            <a:endParaRPr lang="en-GB" dirty="0"/>
          </a:p>
          <a:p>
            <a:pPr marL="342900" indent="-342900">
              <a:buAutoNum type="arabicParenBoth"/>
            </a:pPr>
            <a:r>
              <a:rPr lang="en-GB" dirty="0"/>
              <a:t>The detectability of the reflectance signal will depend on </a:t>
            </a:r>
            <a:r>
              <a:rPr lang="en-GB" b="1" dirty="0"/>
              <a:t>type of photosynthesis</a:t>
            </a:r>
            <a:r>
              <a:rPr lang="en-GB" dirty="0"/>
              <a:t>, </a:t>
            </a:r>
            <a:r>
              <a:rPr lang="en-GB" b="1" dirty="0"/>
              <a:t>surface density and distribution of the organisms</a:t>
            </a:r>
            <a:r>
              <a:rPr lang="en-GB" dirty="0"/>
              <a:t>, </a:t>
            </a:r>
            <a:r>
              <a:rPr lang="en-GB" b="1" dirty="0"/>
              <a:t>cloud cover, etc.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26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General Model of a Photosynthetic Reaction Centre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F1BB8-CC81-A178-9192-D18AFC00B896}"/>
              </a:ext>
            </a:extLst>
          </p:cNvPr>
          <p:cNvSpPr txBox="1"/>
          <p:nvPr/>
        </p:nvSpPr>
        <p:spPr>
          <a:xfrm>
            <a:off x="723014" y="1669312"/>
            <a:ext cx="50498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Previous model: </a:t>
            </a:r>
          </a:p>
          <a:p>
            <a:endParaRPr lang="en-GB" dirty="0"/>
          </a:p>
          <a:p>
            <a:r>
              <a:rPr lang="en-GB" dirty="0"/>
              <a:t>We assumed an oxygenic reaction centre (RC) fed energy by an antenna.</a:t>
            </a:r>
          </a:p>
          <a:p>
            <a:endParaRPr lang="en-GB" dirty="0"/>
          </a:p>
          <a:p>
            <a:r>
              <a:rPr lang="en-GB" dirty="0"/>
              <a:t>The antenna was optimized to different light environments but the RC was fixed.</a:t>
            </a:r>
          </a:p>
          <a:p>
            <a:endParaRPr lang="en-GB" dirty="0"/>
          </a:p>
          <a:p>
            <a:r>
              <a:rPr lang="en-GB" dirty="0"/>
              <a:t>No way of comparing different forms of photosynthesis (oxygenic, anoxygenic, hydrogenic, etc.).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8763DC-960F-F39B-655A-43CFE55C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161" y="1502217"/>
            <a:ext cx="545782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4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General Model of a Photosynthetic Reaction Centre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1474BE7-720B-86CF-2204-48CB9E3F3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208860"/>
            <a:ext cx="5701432" cy="2599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FF7C2-11E0-ED0F-0445-9ED9D59BEF6B}"/>
              </a:ext>
            </a:extLst>
          </p:cNvPr>
          <p:cNvSpPr txBox="1"/>
          <p:nvPr/>
        </p:nvSpPr>
        <p:spPr>
          <a:xfrm>
            <a:off x="701750" y="1467293"/>
            <a:ext cx="457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New model:</a:t>
            </a:r>
          </a:p>
          <a:p>
            <a:endParaRPr lang="en-GB" dirty="0"/>
          </a:p>
          <a:p>
            <a:r>
              <a:rPr lang="en-GB" dirty="0"/>
              <a:t>Assume the RC is composed of 4 redox co-factors (D, S, T</a:t>
            </a:r>
            <a:r>
              <a:rPr lang="en-GB" baseline="-25000" dirty="0"/>
              <a:t>1</a:t>
            </a:r>
            <a:r>
              <a:rPr lang="en-GB" dirty="0"/>
              <a:t>, T</a:t>
            </a:r>
            <a:r>
              <a:rPr lang="en-GB" baseline="-25000" dirty="0"/>
              <a:t>2</a:t>
            </a:r>
            <a:r>
              <a:rPr lang="en-GB" dirty="0"/>
              <a:t>). </a:t>
            </a:r>
          </a:p>
          <a:p>
            <a:endParaRPr lang="en-GB" dirty="0"/>
          </a:p>
          <a:p>
            <a:r>
              <a:rPr lang="en-GB" dirty="0"/>
              <a:t>(1) The antenna excites a </a:t>
            </a:r>
            <a:r>
              <a:rPr lang="en-GB" i="1" dirty="0"/>
              <a:t>special pigment</a:t>
            </a:r>
            <a:r>
              <a:rPr lang="en-GB" dirty="0"/>
              <a:t>, S, creating an exciton (electron-hole pair). </a:t>
            </a:r>
          </a:p>
          <a:p>
            <a:endParaRPr lang="en-GB" dirty="0"/>
          </a:p>
          <a:p>
            <a:r>
              <a:rPr lang="en-GB" dirty="0"/>
              <a:t>(2) Electron transfers to T</a:t>
            </a:r>
            <a:r>
              <a:rPr lang="en-GB" baseline="-25000" dirty="0"/>
              <a:t>1</a:t>
            </a:r>
            <a:r>
              <a:rPr lang="en-GB" dirty="0"/>
              <a:t> then T</a:t>
            </a:r>
            <a:r>
              <a:rPr lang="en-GB" baseline="-25000" dirty="0"/>
              <a:t>2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(3) Donor, D, reduces S (equivalent to hole transfer from S to D). </a:t>
            </a:r>
          </a:p>
          <a:p>
            <a:endParaRPr lang="en-GB" dirty="0"/>
          </a:p>
          <a:p>
            <a:r>
              <a:rPr lang="en-GB" dirty="0"/>
              <a:t>(4) T</a:t>
            </a:r>
            <a:r>
              <a:rPr lang="en-GB" baseline="-25000" dirty="0"/>
              <a:t>2</a:t>
            </a:r>
            <a:r>
              <a:rPr lang="en-GB" dirty="0"/>
              <a:t> denotes electron to some </a:t>
            </a:r>
            <a:r>
              <a:rPr lang="en-GB" i="1" dirty="0"/>
              <a:t>redox carrier</a:t>
            </a:r>
            <a:r>
              <a:rPr lang="en-GB" dirty="0"/>
              <a:t>. D is replaced.</a:t>
            </a:r>
          </a:p>
          <a:p>
            <a:endParaRPr lang="en-GB" dirty="0"/>
          </a:p>
          <a:p>
            <a:r>
              <a:rPr lang="en-GB" dirty="0"/>
              <a:t>(5) The redox carrier kickstarts carbon fixation.</a:t>
            </a:r>
          </a:p>
        </p:txBody>
      </p:sp>
    </p:spTree>
    <p:extLst>
      <p:ext uri="{BB962C8B-B14F-4D97-AF65-F5344CB8AC3E}">
        <p14:creationId xmlns:p14="http://schemas.microsoft.com/office/powerpoint/2010/main" val="298188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Thermodynamics of the RC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FF7C2-11E0-ED0F-0445-9ED9D59BEF6B}"/>
              </a:ext>
            </a:extLst>
          </p:cNvPr>
          <p:cNvSpPr txBox="1"/>
          <p:nvPr/>
        </p:nvSpPr>
        <p:spPr>
          <a:xfrm>
            <a:off x="838200" y="1754372"/>
            <a:ext cx="457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Thermodynamically, the RC has to look something like this. </a:t>
            </a:r>
          </a:p>
          <a:p>
            <a:endParaRPr lang="en-GB" dirty="0"/>
          </a:p>
          <a:p>
            <a:r>
              <a:rPr lang="en-GB" dirty="0"/>
              <a:t>4 overall </a:t>
            </a:r>
            <a:r>
              <a:rPr lang="en-GB" i="1" dirty="0"/>
              <a:t>states </a:t>
            </a:r>
            <a:r>
              <a:rPr lang="en-GB" dirty="0"/>
              <a:t>of the systems, defined by the location of the electron and hole on the 4 co-factors.</a:t>
            </a:r>
          </a:p>
          <a:p>
            <a:endParaRPr lang="en-GB" dirty="0"/>
          </a:p>
          <a:p>
            <a:r>
              <a:rPr lang="en-GB" dirty="0" err="1"/>
              <a:t>E</a:t>
            </a:r>
            <a:r>
              <a:rPr lang="en-GB" baseline="-25000" dirty="0" err="1"/>
              <a:t>ox</a:t>
            </a:r>
            <a:r>
              <a:rPr lang="en-GB" dirty="0"/>
              <a:t> is the energy that is needed to oxidize the donor. We can think of this as the </a:t>
            </a:r>
            <a:r>
              <a:rPr lang="en-GB" i="1" dirty="0"/>
              <a:t>running cost</a:t>
            </a:r>
            <a:r>
              <a:rPr lang="en-GB" dirty="0"/>
              <a:t> of the RC.</a:t>
            </a:r>
          </a:p>
          <a:p>
            <a:endParaRPr lang="en-GB" dirty="0"/>
          </a:p>
          <a:p>
            <a:r>
              <a:rPr lang="en-GB" dirty="0" err="1"/>
              <a:t>E</a:t>
            </a:r>
            <a:r>
              <a:rPr lang="en-GB" baseline="-25000" dirty="0" err="1"/>
              <a:t>red</a:t>
            </a:r>
            <a:r>
              <a:rPr lang="en-GB" baseline="-25000" dirty="0"/>
              <a:t> </a:t>
            </a:r>
            <a:r>
              <a:rPr lang="en-GB" dirty="0"/>
              <a:t>is the surplus energy left over to reduce the acceptor. This energy is used to carry out all the anabolic reactions need for life.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48A8A-D5F5-C91D-8181-90710D2E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711" y="602068"/>
            <a:ext cx="5305425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9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(1) Oxygenic Photosynthesis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/>
              <p:nvPr/>
            </p:nvSpPr>
            <p:spPr>
              <a:xfrm>
                <a:off x="838200" y="1754372"/>
                <a:ext cx="457200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Donor oxidation,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requires 4 photons, each of energy </a:t>
                </a:r>
                <a:r>
                  <a:rPr lang="en-GB" i="1" dirty="0"/>
                  <a:t>at least </a:t>
                </a:r>
                <a:endParaRPr lang="en-GB" dirty="0"/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=1.23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If our RC absorbs at 680 nm, then this implies,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left over to do useful chemistry (an RC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would be useless).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4372"/>
                <a:ext cx="4572000" cy="4247317"/>
              </a:xfrm>
              <a:prstGeom prst="rect">
                <a:avLst/>
              </a:prstGeom>
              <a:blipFill>
                <a:blip r:embed="rId2"/>
                <a:stretch>
                  <a:fillRect l="-1200" t="-717" b="-1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038FA58-BF41-5DDD-E8A6-256AB70B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79" y="843931"/>
            <a:ext cx="479107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3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(2) </a:t>
            </a:r>
            <a:r>
              <a:rPr lang="en-GB" sz="3600" i="1" dirty="0"/>
              <a:t>Far Red </a:t>
            </a:r>
            <a:r>
              <a:rPr lang="en-GB" sz="3600" dirty="0"/>
              <a:t>Oxygenic Photosynthesis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FF7C2-11E0-ED0F-0445-9ED9D59BEF6B}"/>
              </a:ext>
            </a:extLst>
          </p:cNvPr>
          <p:cNvSpPr txBox="1"/>
          <p:nvPr/>
        </p:nvSpPr>
        <p:spPr>
          <a:xfrm>
            <a:off x="838200" y="1754372"/>
            <a:ext cx="457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Identical to ‘normal’ oxygenic photosynthesis but S* is slightly red-shifted. </a:t>
            </a:r>
          </a:p>
          <a:p>
            <a:endParaRPr lang="en-GB" dirty="0"/>
          </a:p>
          <a:p>
            <a:r>
              <a:rPr lang="en-GB" dirty="0"/>
              <a:t>This is a survival strategy in some cyanobacteria. </a:t>
            </a:r>
          </a:p>
          <a:p>
            <a:endParaRPr lang="en-GB" dirty="0"/>
          </a:p>
          <a:p>
            <a:r>
              <a:rPr lang="en-GB" dirty="0"/>
              <a:t>Astrobiology people are very interested in this.</a:t>
            </a:r>
          </a:p>
          <a:p>
            <a:endParaRPr lang="en-GB" dirty="0"/>
          </a:p>
          <a:p>
            <a:r>
              <a:rPr lang="en-GB" dirty="0"/>
              <a:t>Doesn’t seem to be very effective (survive not thrive). </a:t>
            </a:r>
          </a:p>
          <a:p>
            <a:endParaRPr lang="en-GB" dirty="0"/>
          </a:p>
          <a:p>
            <a:r>
              <a:rPr lang="en-GB" dirty="0"/>
              <a:t>We could use this to bench mark our simulations.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6B4C3-5791-6D02-00DB-C912310B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948" y="1095153"/>
            <a:ext cx="4467852" cy="540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9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(3) Anoxygenic Photosynthesis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/>
              <p:nvPr/>
            </p:nvSpPr>
            <p:spPr>
              <a:xfrm>
                <a:off x="838199" y="1499190"/>
                <a:ext cx="472439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Oxidation of some general reduced compound,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We assume that the RC absorbs at 870 nm. If we require,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=0.59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(basically assuming these bugs carry out the same biochemical processes as their anoxygenic cousins) then,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=0.83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99190"/>
                <a:ext cx="4724399" cy="4247317"/>
              </a:xfrm>
              <a:prstGeom prst="rect">
                <a:avLst/>
              </a:prstGeom>
              <a:blipFill>
                <a:blip r:embed="rId2"/>
                <a:stretch>
                  <a:fillRect l="-1032" t="-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E44DBDA-E485-DD79-A8DF-4B26B368E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735" y="1268180"/>
            <a:ext cx="47244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3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(4) NIR (Hydrogenic) Photosynthesis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/>
              <p:nvPr/>
            </p:nvSpPr>
            <p:spPr>
              <a:xfrm>
                <a:off x="838200" y="1265274"/>
                <a:ext cx="457200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Methane oxidation,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requires 4 photons, each of energy </a:t>
                </a:r>
                <a:r>
                  <a:rPr lang="en-GB" i="1" dirty="0"/>
                  <a:t>at least </a:t>
                </a:r>
                <a:endParaRPr lang="en-GB" dirty="0"/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=0.62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If we again assume that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(essentially so we are not assuming hydrogenic photosynthesis is </a:t>
                </a:r>
                <a:r>
                  <a:rPr lang="en-GB" i="1" dirty="0"/>
                  <a:t>a priori</a:t>
                </a:r>
                <a:r>
                  <a:rPr lang="en-GB" dirty="0"/>
                  <a:t> ‘worse’ than the other forms) then the RC absorbs at 1020 nm. </a:t>
                </a:r>
              </a:p>
              <a:p>
                <a:endParaRPr lang="en-GB" dirty="0"/>
              </a:p>
              <a:p>
                <a:r>
                  <a:rPr lang="en-GB" dirty="0"/>
                  <a:t>Bains et al. assumed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sub>
                    </m:sSub>
                  </m:oMath>
                </a14:m>
                <a:r>
                  <a:rPr lang="en-GB" dirty="0"/>
                  <a:t> would be lower so assumed 1500 nm.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8FF7C2-11E0-ED0F-0445-9ED9D59B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65274"/>
                <a:ext cx="4572000" cy="5355312"/>
              </a:xfrm>
              <a:prstGeom prst="rect">
                <a:avLst/>
              </a:prstGeom>
              <a:blipFill>
                <a:blip r:embed="rId2"/>
                <a:stretch>
                  <a:fillRect l="-1200" t="-569" r="-1333" b="-10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597FE8D-B7D4-43AA-C4AA-BFA24A02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849" y="1518515"/>
            <a:ext cx="45243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4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F494-3EBC-82D2-4250-3B064946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/>
              <a:t>How this connects to exo-planets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FF7C2-11E0-ED0F-0445-9ED9D59BEF6B}"/>
              </a:ext>
            </a:extLst>
          </p:cNvPr>
          <p:cNvSpPr txBox="1"/>
          <p:nvPr/>
        </p:nvSpPr>
        <p:spPr>
          <a:xfrm>
            <a:off x="838200" y="1265274"/>
            <a:ext cx="111234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GB" dirty="0"/>
              <a:t>Given an incident spectral flux, we can predict which type of photosynthesis will dominate. </a:t>
            </a:r>
          </a:p>
          <a:p>
            <a:pPr marL="342900" indent="-342900">
              <a:buAutoNum type="arabicParenBoth"/>
            </a:pPr>
            <a:endParaRPr lang="en-GB" dirty="0"/>
          </a:p>
          <a:p>
            <a:pPr marL="342900" indent="-342900">
              <a:buAutoNum type="arabicParenBoth"/>
            </a:pPr>
            <a:r>
              <a:rPr lang="en-GB" dirty="0"/>
              <a:t>They will each have a different reflectance edge which Andrew can model. </a:t>
            </a:r>
          </a:p>
          <a:p>
            <a:endParaRPr lang="en-GB" dirty="0"/>
          </a:p>
          <a:p>
            <a:r>
              <a:rPr lang="en-GB" dirty="0"/>
              <a:t>(3) We can perform a simple simulated observation, with some photobiology to support the assumption of a particular reflectance model. </a:t>
            </a:r>
          </a:p>
          <a:p>
            <a:pPr marL="342900" indent="-342900">
              <a:buAutoNum type="arabicParenBoth"/>
            </a:pPr>
            <a:endParaRPr lang="en-GB" dirty="0"/>
          </a:p>
          <a:p>
            <a:r>
              <a:rPr lang="en-GB" b="1" dirty="0"/>
              <a:t>Things for which I could use your input</a:t>
            </a:r>
          </a:p>
          <a:p>
            <a:endParaRPr lang="en-GB" b="1" dirty="0"/>
          </a:p>
          <a:p>
            <a:pPr marL="342900" indent="-342900">
              <a:buAutoNum type="arabicParenBoth"/>
            </a:pPr>
            <a:r>
              <a:rPr lang="en-GB" dirty="0"/>
              <a:t>Currently, the model will most likely choose the form of photosynthesis that best lines up with the incident flux maximum (since all 4 forms are equally as ‘good’ for the same photoexcitation rate). </a:t>
            </a:r>
          </a:p>
          <a:p>
            <a:pPr marL="342900" indent="-342900">
              <a:buAutoNum type="arabicParenBoth"/>
            </a:pPr>
            <a:endParaRPr lang="en-GB" dirty="0"/>
          </a:p>
          <a:p>
            <a:pPr marL="342900" indent="-342900">
              <a:buAutoNum type="arabicParenBoth"/>
            </a:pPr>
            <a:r>
              <a:rPr lang="en-GB" dirty="0"/>
              <a:t>We need to think about </a:t>
            </a:r>
            <a:r>
              <a:rPr lang="en-GB" b="1" dirty="0"/>
              <a:t>substrate availability</a:t>
            </a:r>
            <a:r>
              <a:rPr lang="en-GB" dirty="0"/>
              <a:t>. Oxygenic photosynthesis evolved mainly due to the wide availability of H</a:t>
            </a:r>
            <a:r>
              <a:rPr lang="en-GB" baseline="-25000" dirty="0"/>
              <a:t>2</a:t>
            </a:r>
            <a:r>
              <a:rPr lang="en-GB" dirty="0"/>
              <a:t>O compared to H</a:t>
            </a:r>
            <a:r>
              <a:rPr lang="en-GB" baseline="-25000" dirty="0"/>
              <a:t>2</a:t>
            </a:r>
            <a:r>
              <a:rPr lang="en-GB" dirty="0"/>
              <a:t>S, not due to more flux at 680 nm rather than 870 nm. </a:t>
            </a:r>
          </a:p>
          <a:p>
            <a:pPr marL="342900" indent="-342900">
              <a:buAutoNum type="arabicParenBoth"/>
            </a:pPr>
            <a:endParaRPr lang="en-GB" dirty="0"/>
          </a:p>
          <a:p>
            <a:pPr marL="342900" indent="-342900">
              <a:buAutoNum type="arabicParenBoth"/>
            </a:pPr>
            <a:r>
              <a:rPr lang="en-GB" dirty="0"/>
              <a:t>Currently the model gives a single </a:t>
            </a:r>
            <a:r>
              <a:rPr lang="en-GB" i="1" dirty="0"/>
              <a:t>best </a:t>
            </a:r>
            <a:r>
              <a:rPr lang="en-GB" dirty="0"/>
              <a:t>population for a given light. We need to think about </a:t>
            </a:r>
            <a:r>
              <a:rPr lang="en-GB" b="1" dirty="0"/>
              <a:t>heterogeneity of different forms of photosynthesis</a:t>
            </a:r>
            <a:r>
              <a:rPr lang="en-GB" dirty="0"/>
              <a:t> across the planet surface.  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26506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743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Basic Premise and Hypotheses</vt:lpstr>
      <vt:lpstr>General Model of a Photosynthetic Reaction Centre</vt:lpstr>
      <vt:lpstr>General Model of a Photosynthetic Reaction Centre</vt:lpstr>
      <vt:lpstr>Thermodynamics of the RC</vt:lpstr>
      <vt:lpstr>(1) Oxygenic Photosynthesis</vt:lpstr>
      <vt:lpstr>(2) Far Red Oxygenic Photosynthesis</vt:lpstr>
      <vt:lpstr>(3) Anoxygenic Photosynthesis</vt:lpstr>
      <vt:lpstr>(4) NIR (Hydrogenic) Photosynthesis</vt:lpstr>
      <vt:lpstr>How this connects to exo-planets</vt:lpstr>
    </vt:vector>
  </TitlesOfParts>
  <Company>Queen Mary, University of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Duffy</dc:creator>
  <cp:lastModifiedBy>Chris Duffy</cp:lastModifiedBy>
  <cp:revision>8</cp:revision>
  <dcterms:created xsi:type="dcterms:W3CDTF">2024-08-02T10:43:30Z</dcterms:created>
  <dcterms:modified xsi:type="dcterms:W3CDTF">2024-08-02T12:37:42Z</dcterms:modified>
</cp:coreProperties>
</file>